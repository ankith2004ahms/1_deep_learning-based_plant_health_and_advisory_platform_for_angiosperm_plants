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61" r:id="rId15"/>
    <p:sldId id="276" r:id="rId16"/>
    <p:sldId id="277" r:id="rId17"/>
    <p:sldId id="278" r:id="rId18"/>
    <p:sldId id="279" r:id="rId19"/>
    <p:sldId id="280" r:id="rId20"/>
    <p:sldId id="290" r:id="rId21"/>
    <p:sldId id="274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94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32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023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45720"/>
            <a:ext cx="7498080" cy="566928"/>
          </a:xfrm>
          <a:prstGeom prst="rect">
            <a:avLst/>
          </a:prstGeom>
          <a:solidFill>
            <a:srgbClr val="D4A0B5"/>
          </a:solidFill>
          <a:ln w="12700">
            <a:solidFill>
              <a:srgbClr val="D4A0B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18288"/>
            <a:ext cx="594360" cy="62179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54864"/>
            <a:ext cx="59436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457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P.E.S. COLLEGE OF ENGINEERING, MANDYA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228600" y="713232"/>
            <a:ext cx="137160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713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"Deep Learning-Based Plant Health and Advisory Platform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Angiosperm Plants"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48640" y="25786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Sahayak — AI-Powered Farmer Assistance Platform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371600" y="2999232"/>
            <a:ext cx="6400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" y="3090672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5760" y="34107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Ankith M – 4PS22IS006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 A – 4PS22IS033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Mohith M Y – 4PS23IS405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C N – 4PS22IS022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46320" y="3090672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4632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46320" y="34107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Minavathi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ISE Department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P.E.S. College of Engineering, Mandya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 | P.E.S. College of Engineering, Mandya – 571401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28600" y="777240"/>
            <a:ext cx="416052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Identification &amp; Motivation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28600" y="132588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Objectives of the Project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28600" y="1874520"/>
            <a:ext cx="416052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Phase-2 Recap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28600" y="242316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004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System Architecture &amp; Tech Stack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28600" y="2971800"/>
            <a:ext cx="416052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971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Plant Disease Detection – Methodology &amp; Workflow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28600" y="352044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0040" y="3520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Crop Recommendation – Methodology &amp; Workflow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28600" y="4069080"/>
            <a:ext cx="416052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AI Farming Chatbot – Methodology &amp; Workflow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0" y="777240"/>
            <a:ext cx="416052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User Dashboard &amp; History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754880" y="132588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4632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Multilingual Support &amp; AI Fallback Strategy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54880" y="1874520"/>
            <a:ext cx="416052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4632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Database Design &amp; Data Models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754880" y="242316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4632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Results &amp; Outcomes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2971800"/>
            <a:ext cx="416052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46320" y="2971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Limitations &amp; Future Scope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754880" y="352044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46320" y="3520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SDG Mapping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754880" y="4069080"/>
            <a:ext cx="416052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4632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References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 &amp; Motivation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777240"/>
            <a:ext cx="51206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" y="7772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0040" y="1124712"/>
            <a:ext cx="4846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2608" y="1152144"/>
            <a:ext cx="4937760" cy="34564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is the livelihood of millions in India, yet farmers face: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insights on crop health, soil, and weather.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preventing access to digital farming tools.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disease detection causing significant yield loss.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internet connectivity in rural and semi-urban areas.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integrated platform combining diagnosis, recommendation, and advisory support.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577840" y="777240"/>
            <a:ext cx="33832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577840" y="777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715000" y="1124712"/>
            <a:ext cx="3108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50992" y="1170432"/>
            <a:ext cx="3236976" cy="34564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exists no single, multilingual, and offline-capable AI platform that provides: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agricultural support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Crop advisory services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learning-based disease detection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...for Angiosperm plants in the farmer's native language.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804672"/>
            <a:ext cx="429768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82880" y="804672"/>
            <a:ext cx="475488" cy="17190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82880" y="804672"/>
            <a:ext cx="4754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" y="87782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 Platform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1280160"/>
            <a:ext cx="3566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1316736"/>
            <a:ext cx="3639312" cy="115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unified AI-powered farming assistant combining disease detection, crop advisory, chatbot support, and dashboard history into one full-stack SaaS web platform.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63440" y="804672"/>
            <a:ext cx="429768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63440" y="804672"/>
            <a:ext cx="475488" cy="171907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63440" y="804672"/>
            <a:ext cx="4754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212080" y="87782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Disease Detection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212080" y="1280160"/>
            <a:ext cx="3566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12080" y="1316736"/>
            <a:ext cx="3639312" cy="115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a CNN-based image classification model (my_cnn_model.h5, trained on PlantVillage ~87k images, 38 classes) for early and accurate Angiosperm plant disease detection.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182880" y="2679192"/>
            <a:ext cx="429768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82880" y="2679192"/>
            <a:ext cx="475488" cy="17190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82880" y="2679192"/>
            <a:ext cx="4754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31520" y="275234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Offline AI Support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31520" y="3154680"/>
            <a:ext cx="3566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1520" y="3191256"/>
            <a:ext cx="3639312" cy="115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dual-mode AI pipeline: Gemini API for cloud intelligence and Ollama (LLaMA 3.2) as local fallback, ensuring continuous assistance even without internet.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663440" y="2679192"/>
            <a:ext cx="429768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63440" y="2679192"/>
            <a:ext cx="475488" cy="17190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63440" y="2679192"/>
            <a:ext cx="4754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212080" y="275234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Accessibility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212080" y="3154680"/>
            <a:ext cx="3566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212080" y="3191256"/>
            <a:ext cx="3639312" cy="115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localized, AI-generated responses in 12 Indian languages (Hindi, Kannada, Tamil, Telugu, Malayalam, Marathi, Bengali, Punjabi, Gujarati, Oriya, Assamese, English).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09728" y="777240"/>
            <a:ext cx="166420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9728" y="7772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Framework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09728" y="1234440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09728" y="1234440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09728" y="2039112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09728" y="2039112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09728" y="2843784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09728" y="2843784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09728" y="3648456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09728" y="3648456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Authentication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901952" y="777240"/>
            <a:ext cx="1664208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901952" y="7772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901952" y="1234440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901952" y="1234440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 Handlers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901952" y="2039112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1901952" y="2039112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1901952" y="2843784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1901952" y="2843784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901952" y="3648456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1901952" y="3648456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Docs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694176" y="777240"/>
            <a:ext cx="1664208" cy="38404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94176" y="7772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Layer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3694176" y="1234440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3694176" y="1234440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(primary)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694176" y="2039112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3694176" y="2039112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3.2 (fallback)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694176" y="2843784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3694176" y="2843784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(advisory)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3694176" y="3648456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3694176" y="3648456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486400" y="777240"/>
            <a:ext cx="1664208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486400" y="7772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Python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5486400" y="1234440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5486400" y="1234440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+ Keras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486400" y="2039112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5486400" y="2039112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my_cnn_model.h5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5486400" y="2843784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Text 43"/>
          <p:cNvSpPr/>
          <p:nvPr/>
        </p:nvSpPr>
        <p:spPr>
          <a:xfrm>
            <a:off x="5486400" y="2843784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predict.py script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5486400" y="3648456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Text 45"/>
          <p:cNvSpPr/>
          <p:nvPr/>
        </p:nvSpPr>
        <p:spPr>
          <a:xfrm>
            <a:off x="5486400" y="3648456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dataset (87k)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7278624" y="777240"/>
            <a:ext cx="1664208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278624" y="7772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7278624" y="1234440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Text 49"/>
          <p:cNvSpPr/>
          <p:nvPr/>
        </p:nvSpPr>
        <p:spPr>
          <a:xfrm>
            <a:off x="7278624" y="1234440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7278624" y="2039112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5" name="Text 51"/>
          <p:cNvSpPr/>
          <p:nvPr/>
        </p:nvSpPr>
        <p:spPr>
          <a:xfrm>
            <a:off x="7278624" y="2039112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/ WhatsApp API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7278624" y="2843784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7" name="Text 53"/>
          <p:cNvSpPr/>
          <p:nvPr/>
        </p:nvSpPr>
        <p:spPr>
          <a:xfrm>
            <a:off x="7278624" y="2843784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(Auth + User Mgmt)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7278624" y="3648456"/>
            <a:ext cx="166420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9" name="Text 55"/>
          <p:cNvSpPr/>
          <p:nvPr/>
        </p:nvSpPr>
        <p:spPr>
          <a:xfrm>
            <a:off x="7278624" y="3648456"/>
            <a:ext cx="166420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Image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Plant Disease Detection — Methodology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77724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1124712"/>
            <a:ext cx="3566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92608" y="1188720"/>
            <a:ext cx="3621024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2608" y="118872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224×224 RGB Leaf Image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828800" y="15361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292608" y="1627632"/>
            <a:ext cx="3621024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2608" y="1627632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(32 filters, 3×3, ReLU) + MaxPool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828800" y="197510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292608" y="2066544"/>
            <a:ext cx="3621024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" y="2066544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(64 filters, 3×3, ReLU) + MaxPool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828800" y="24140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292608" y="2505456"/>
            <a:ext cx="3621024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92608" y="2505456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(128 filters, 3×3, ReLU) + MaxPool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828800" y="285292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292608" y="2944368"/>
            <a:ext cx="3621024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92608" y="2944368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→ Dropout (0.5)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828800" y="329184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292608" y="3383280"/>
            <a:ext cx="3621024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92608" y="338328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(256, ReLU) → Dense (38, Softmax)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828800" y="373075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292608" y="3822192"/>
            <a:ext cx="3621024" cy="365760"/>
          </a:xfrm>
          <a:prstGeom prst="rect">
            <a:avLst/>
          </a:prstGeom>
          <a:solidFill>
            <a:srgbClr val="1A1A1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92608" y="3822192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Disease Class + Confidence %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206240" y="777240"/>
            <a:ext cx="4754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206240" y="7772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Methodology Details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343400" y="1124712"/>
            <a:ext cx="44805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315968" y="1170432"/>
            <a:ext cx="4553712" cy="34015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+ New Plant Diseases (~87,000 images, 38 classes)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224×224, normalize [0,1], augment (flip, rotation, zoom)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in TensorFlow/Keras — supervised classification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|  Loss: Categorical Cross-entropy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38-class softmax prediction with confidence score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 receives base64 image from API route, decodes, preprocesses, runs model.predict()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class label + confidence returned to Next.js route handler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Gemini/Ollama generates causes, symptoms, treatment, prevention in selected language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Plant Disease Detection — Workflow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64592" y="914400"/>
            <a:ext cx="1143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0352" y="987552"/>
            <a:ext cx="411480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0352" y="98755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64592" y="1371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Image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307592" y="1216152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417320" y="914400"/>
            <a:ext cx="1143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783080" y="987552"/>
            <a:ext cx="411480" cy="3291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783080" y="98755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417320" y="1371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API Route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2560320" y="1216152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2670048" y="914400"/>
            <a:ext cx="1143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035808" y="987552"/>
            <a:ext cx="411480" cy="329184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035808" y="98755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670048" y="1371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→ Python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813048" y="1216152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922776" y="914400"/>
            <a:ext cx="1143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288536" y="987552"/>
            <a:ext cx="411480" cy="329184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288536" y="98755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922776" y="1371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Disease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5065776" y="1216152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175504" y="914400"/>
            <a:ext cx="1143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541264" y="987552"/>
            <a:ext cx="411480" cy="329184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541264" y="98755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175504" y="1371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6318504" y="1216152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428232" y="914400"/>
            <a:ext cx="1143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793992" y="987552"/>
            <a:ext cx="411480" cy="32918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793992" y="98755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428232" y="1371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Gemini/Ollama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Treatment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7571232" y="1216152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7680960" y="914400"/>
            <a:ext cx="1143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046720" y="987552"/>
            <a:ext cx="411480" cy="3291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046720" y="98755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7680960" y="1371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Saved to DB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182880" y="202996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Flow Detail</a:t>
            </a:r>
            <a:endParaRPr lang="en-US" sz="11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331720"/>
          <a:ext cx="8778240" cy="2331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API Route / Script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Upload Image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app/api/analyze-plant/route.ts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Receive image, encode to Base64, spawn Python process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ML Inference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scripts/predict.py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Load my_cnn_model.h5, preprocess, model.predict(), return class+confidence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Treatment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app/api/analyze-plant/treatment/route.ts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Call generateTextWithFallback() → Gemini first, Ollama fallback, in selected language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Save Record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models/DiseaseDetection.ts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Persist detection result + treatment to MongoDB for dashboard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2: Crop Recommendation — Methodology &amp; Workflow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777240"/>
            <a:ext cx="411480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Rule-Assisted AI Methodology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1124712"/>
            <a:ext cx="3840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1170432"/>
            <a:ext cx="3931920" cy="34472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Factors Collected: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(→ climate region mapping)
• Planting season selected by user
• Soil type (clay, loam, sandy, black, red)
• Desired harvest timeline
• Language preference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Pipeline: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current season from server timestamp
• Map state → climate zone
• Compute expected harvest season
• Generate structured AI prompt
• Gemini/Ollama returns crop list + rationale
• Parse into: crop name + why suitable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
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Recommendation + reasoning saved to MongoDB CropRecommendation collection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0" y="777240"/>
            <a:ext cx="43891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0" y="7772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09160" y="1124712"/>
            <a:ext cx="4114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09160" y="118872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09160" y="1188720"/>
            <a:ext cx="73152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28032" y="118872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selects: State + Season + Soil + Timeline + Language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492240" y="168249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4709160" y="182880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09160" y="1828800"/>
            <a:ext cx="73152" cy="5120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28032" y="182880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System derives: climate zone, current season, harvest window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492240" y="232257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4709160" y="246888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2468880"/>
            <a:ext cx="73152" cy="512064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28032" y="246888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AI Prompt → Send to Gemini / Ollama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492240" y="29626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4709160" y="310896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709160" y="3108960"/>
            <a:ext cx="73152" cy="5120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28032" y="310896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Parse AI response → Structured crop list with rationale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492240" y="360273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4709160" y="374904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09160" y="3749040"/>
            <a:ext cx="73152" cy="5120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28032" y="374904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Save to MongoDB + Render recommendations in UI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3: AI Farming Chatbot — Methodology &amp; Workflow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777240"/>
            <a:ext cx="411480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Methodology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1124712"/>
            <a:ext cx="3840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1170432"/>
            <a:ext cx="3931920" cy="34472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Design: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Scoped strictly to agriculture and farming topics
• Prevents off-topic or harmful responses
• Encourages practical, actionable guidance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Backend: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generateTextWithFallback() in utils/api-fallback.ts
• Checks internet → tries Gemini → falls back to Ollama
• Conversation history passed as context for coherent multi-turn dialogue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conversation (user + assistant turns) stored in MongoDB ChatbotConversation model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can revisit, continue, or delete past conversations from dashboard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0" y="777240"/>
            <a:ext cx="43891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0" y="7772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Request–Response Flow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09160" y="1124712"/>
            <a:ext cx="4114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09160" y="118872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09160" y="1188720"/>
            <a:ext cx="73152" cy="5120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28032" y="118872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Types farming query in selected language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492240" y="168249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4709160" y="182880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09160" y="1828800"/>
            <a:ext cx="73152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28032" y="182880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Sends message + conversation history to /api/chatbot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492240" y="232257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4709160" y="246888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2468880"/>
            <a:ext cx="73152" cy="512064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28032" y="246888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Route: Applies system prompt + calls generateTextWithFallback()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492240" y="29626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4709160" y="310896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709160" y="3108960"/>
            <a:ext cx="73152" cy="5120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28032" y="310896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Model: Gemini/Ollama returns contextual farming advice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492240" y="360273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4709160" y="3749040"/>
            <a:ext cx="41148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09160" y="3749040"/>
            <a:ext cx="73152" cy="5120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28032" y="3749040"/>
            <a:ext cx="3959352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Response displayed + full conversation saved to MongoDB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4: User Dashboard &amp; History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82880" y="8229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one-time AI outputs into a persistent, reviewable SaaS user record system.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82880" y="1188720"/>
            <a:ext cx="28346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82880" y="1188720"/>
            <a:ext cx="28346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2880" y="1188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 History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92608" y="166420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166420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Lists all past disease detections per user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92608" y="239572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7472" y="239572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Shows: plant image, detected disease, confidence, date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92608" y="312724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7472" y="312724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Modal popup for full treatment + prevention details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92608" y="385876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7472" y="385876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User can delete records from dashboard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172968" y="1188720"/>
            <a:ext cx="28346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172968" y="1188720"/>
            <a:ext cx="2834640" cy="38404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172968" y="1188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 History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282696" y="166420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37560" y="166420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Lists all past crop recommendations per user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282696" y="239572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37560" y="239572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Shows: state, season, soil type, recommended crops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282696" y="312724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37560" y="312724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Full rationale available in expandable modal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282696" y="385876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337560" y="385876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Supports comparison across planting decisions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163056" y="1188720"/>
            <a:ext cx="28346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163056" y="1188720"/>
            <a:ext cx="283464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163056" y="1188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Conversation History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272784" y="166420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327648" y="166420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Lists all saved conversations with timestamps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272784" y="239572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27648" y="239572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Full multi-turn dialogue preserved per session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272784" y="312724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327648" y="312724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User can continue, export, or delete conversations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272784" y="3858768"/>
            <a:ext cx="2615184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327648" y="3858768"/>
            <a:ext cx="25146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Enables ongoing, context-aware advisory sessions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&amp; 6: Multilingual Support &amp; AI Fallback Strategy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777240"/>
            <a:ext cx="41605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1124712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1188720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11887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1673352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7472" y="167335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2157984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7472" y="215798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4320" y="2642616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" y="2642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74320" y="3127248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7472" y="31272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74320" y="3611880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7472" y="36118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331720" y="1188720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404872" y="11887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331720" y="1673352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404872" y="167335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Punjabi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331720" y="2157984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404872" y="215798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331720" y="2642616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404872" y="2642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Oriya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2331720" y="3127248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404872" y="312724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Assamese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2331720" y="3611880"/>
            <a:ext cx="192024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404872" y="36118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274320" y="41148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passed as a parameter to disease treatment generation and crop recommendation flows.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617720" y="777240"/>
            <a:ext cx="434340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617720" y="7772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Ollama Fallback Strategy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4754880" y="1124712"/>
            <a:ext cx="40690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54880" y="1188720"/>
            <a:ext cx="4069080" cy="49377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754880" y="1188720"/>
            <a:ext cx="73152" cy="4937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864608" y="1188720"/>
            <a:ext cx="3922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Check internet connectivity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4754880" y="1792224"/>
            <a:ext cx="4069080" cy="49377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754880" y="1792224"/>
            <a:ext cx="73152" cy="4937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864608" y="1792224"/>
            <a:ext cx="3922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Try Gemini API (cloud intelligence, rich responses)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4754880" y="2395728"/>
            <a:ext cx="4069080" cy="49377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754880" y="2395728"/>
            <a:ext cx="73152" cy="4937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64608" y="2395728"/>
            <a:ext cx="3922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If OK: Use Gemini response directly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4754880" y="2999232"/>
            <a:ext cx="4069080" cy="49377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754880" y="2999232"/>
            <a:ext cx="73152" cy="4937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864608" y="2999232"/>
            <a:ext cx="3922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If FAIL: Switch to Ollama (local LLaMA 3.2 model)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4754880" y="3602736"/>
            <a:ext cx="4069080" cy="49377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754880" y="3602736"/>
            <a:ext cx="73152" cy="4937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864608" y="3602736"/>
            <a:ext cx="392277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Return result to API route handler</a:t>
            </a:r>
            <a:endParaRPr lang="en-US" sz="950" dirty="0"/>
          </a:p>
        </p:txBody>
      </p:sp>
      <p:sp>
        <p:nvSpPr>
          <p:cNvPr id="56" name="Text 52"/>
          <p:cNvSpPr/>
          <p:nvPr/>
        </p:nvSpPr>
        <p:spPr>
          <a:xfrm>
            <a:off x="4754880" y="4251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utils/api-fallback.ts → generateTextWithFallback()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Workflow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37160" y="914400"/>
            <a:ext cx="1325880" cy="9875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" y="914400"/>
            <a:ext cx="1325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600200" y="1024128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00200" y="1024128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898648" y="1252728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090672" y="1024128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090672" y="1024128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Inference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389120" y="1252728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81144" y="1024128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81144" y="1024128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879592" y="1252728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071616" y="1024128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71616" y="1024128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Treatment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370064" y="1252728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562088" y="1024128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62088" y="1024128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 Dashboard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137160" y="2084832"/>
            <a:ext cx="1325880" cy="98755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37160" y="2084832"/>
            <a:ext cx="1325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600200" y="2194560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600200" y="2194560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State/Soil/Season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898648" y="2423160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090672" y="2194560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090672" y="2194560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Mapping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389120" y="2423160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581144" y="2194560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81144" y="2194560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Build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879592" y="2423160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071616" y="2194560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071616" y="2194560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Crops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370064" y="2423160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7562088" y="2194560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562088" y="2194560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 Dashboard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137160" y="3255264"/>
            <a:ext cx="1325880" cy="9875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37160" y="3255264"/>
            <a:ext cx="1325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1600200" y="3364992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600200" y="3364992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2898648" y="3593592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3090672" y="3364992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090672" y="3364992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4389120" y="3593592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4581144" y="3364992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581144" y="3364992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Gemini/Ollama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5879592" y="3593592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6071616" y="3364992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071616" y="3364992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Context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7370064" y="3593592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7562088" y="3364992"/>
            <a:ext cx="1298448" cy="768096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7562088" y="3364992"/>
            <a:ext cx="12984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 Dashboard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137160" y="4480560"/>
            <a:ext cx="8869680" cy="20116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137160" y="4480560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flows protected by Clerk Authentication  |  Auth state checked before every API route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Outcomes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56032" y="804672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6032" y="804672"/>
            <a:ext cx="192024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56032" y="8778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256032" y="159105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CNN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432304" y="804672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32304" y="804672"/>
            <a:ext cx="19202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432304" y="8778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~87K</a:t>
            </a:r>
            <a:endParaRPr lang="en-US" sz="3800" dirty="0"/>
          </a:p>
        </p:txBody>
      </p:sp>
      <p:sp>
        <p:nvSpPr>
          <p:cNvPr id="17" name="Text 13"/>
          <p:cNvSpPr/>
          <p:nvPr/>
        </p:nvSpPr>
        <p:spPr>
          <a:xfrm>
            <a:off x="2432304" y="159105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(PlantVillage dataset)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08576" y="804672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08576" y="804672"/>
            <a:ext cx="1920240" cy="7315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08576" y="8778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21" name="Text 17"/>
          <p:cNvSpPr/>
          <p:nvPr/>
        </p:nvSpPr>
        <p:spPr>
          <a:xfrm>
            <a:off x="4608576" y="159105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784848" y="804672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784848" y="804672"/>
            <a:ext cx="192024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84848" y="8778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5" name="Text 21"/>
          <p:cNvSpPr/>
          <p:nvPr/>
        </p:nvSpPr>
        <p:spPr>
          <a:xfrm>
            <a:off x="6784848" y="159105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 + Ollama)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182880" y="2331720"/>
            <a:ext cx="877824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82880" y="233172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Features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182880" y="2697480"/>
            <a:ext cx="4343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56032" y="2697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Plant disease detection from leaf images via CNN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182880" y="3090672"/>
            <a:ext cx="4343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56032" y="3090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AI-generated treatment, prevention &amp; advisory in 12 languages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182880" y="3483864"/>
            <a:ext cx="4343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56032" y="34838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Rule-assisted crop recommendation with seasonal &amp; soil logic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182880" y="3877056"/>
            <a:ext cx="4343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56032" y="38770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Multi-turn AI farming chatbot with full history persistence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4709160" y="2697480"/>
            <a:ext cx="425196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82312" y="2697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User dashboard with disease, crop &amp; chat history management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709160" y="3090672"/>
            <a:ext cx="4251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782312" y="3090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Dual-mode AI: Gemini (cloud) + Ollama (local offline fallback)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709160" y="3483864"/>
            <a:ext cx="425196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782312" y="3483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Full-stack SaaS with Clerk auth, MongoDB persistence, Next.js 15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4709160" y="3877056"/>
            <a:ext cx="4251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782312" y="38770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WhatsApp/Twilio extension module for rural accessibility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205978"/>
            <a:ext cx="6172200" cy="994172"/>
          </a:xfrm>
        </p:spPr>
        <p:txBody>
          <a:bodyPr>
            <a:normAutofit fontScale="90000"/>
          </a:bodyPr>
          <a:lstStyle/>
          <a:p>
            <a:br>
              <a:rPr lang="en-US" sz="2100" dirty="0"/>
            </a:b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Home Page</a:t>
            </a:r>
            <a:endParaRPr sz="2100" dirty="0"/>
          </a:p>
        </p:txBody>
      </p:sp>
      <p:sp>
        <p:nvSpPr>
          <p:cNvPr id="3" name="TextBox 2"/>
          <p:cNvSpPr txBox="1"/>
          <p:nvPr/>
        </p:nvSpPr>
        <p:spPr>
          <a:xfrm>
            <a:off x="1485901" y="205740"/>
            <a:ext cx="133171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dirty="0"/>
              <a:t>Output Screen </a:t>
            </a:r>
            <a:r>
              <a:rPr lang="en-US" sz="1350" dirty="0"/>
              <a:t>1</a:t>
            </a:r>
            <a:endParaRPr sz="1350" dirty="0"/>
          </a:p>
        </p:txBody>
      </p:sp>
      <p:pic>
        <p:nvPicPr>
          <p:cNvPr id="4" name="Picture 3" descr="WhatsApp Image 2026-04-10 at 11.28.40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515999"/>
            <a:ext cx="6172200" cy="35421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sApp Image 2026-04-10 at 11.28.43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85800"/>
            <a:ext cx="5486400" cy="437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6087B0-EFF5-085B-C5FF-4881A52E4887}"/>
              </a:ext>
            </a:extLst>
          </p:cNvPr>
          <p:cNvSpPr txBox="1"/>
          <p:nvPr/>
        </p:nvSpPr>
        <p:spPr>
          <a:xfrm>
            <a:off x="1828800" y="320040"/>
            <a:ext cx="15270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Output Screen 2</a:t>
            </a:r>
            <a:endParaRPr lang="en-IN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sApp Image 2026-04-10 at 11.27.34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658368"/>
            <a:ext cx="5486400" cy="30266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DE907D-D873-AF0A-FA66-17595D206DEA}"/>
              </a:ext>
            </a:extLst>
          </p:cNvPr>
          <p:cNvSpPr txBox="1"/>
          <p:nvPr/>
        </p:nvSpPr>
        <p:spPr>
          <a:xfrm>
            <a:off x="1527048" y="280785"/>
            <a:ext cx="15910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Output Screen 3</a:t>
            </a:r>
            <a:endParaRPr lang="en-IN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5901" y="205740"/>
            <a:ext cx="133171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dirty="0"/>
              <a:t>Output Screen </a:t>
            </a:r>
            <a:r>
              <a:rPr lang="en-US" sz="1350" dirty="0"/>
              <a:t>4</a:t>
            </a:r>
            <a:endParaRPr sz="1350" dirty="0"/>
          </a:p>
        </p:txBody>
      </p:sp>
      <p:pic>
        <p:nvPicPr>
          <p:cNvPr id="4" name="Picture 3" descr="WhatsApp Image 2026-04-10 at 11.28.33 PM.jpeg"/>
          <p:cNvPicPr>
            <a:picLocks noChangeAspect="1"/>
          </p:cNvPicPr>
          <p:nvPr/>
        </p:nvPicPr>
        <p:blipFill>
          <a:blip r:embed="rId2"/>
          <a:srcRect l="12864" r="13485" b="5678"/>
          <a:stretch>
            <a:fillRect/>
          </a:stretch>
        </p:blipFill>
        <p:spPr>
          <a:xfrm>
            <a:off x="1143000" y="811137"/>
            <a:ext cx="3246120" cy="2734056"/>
          </a:xfrm>
          <a:prstGeom prst="rect">
            <a:avLst/>
          </a:prstGeom>
        </p:spPr>
      </p:pic>
      <p:pic>
        <p:nvPicPr>
          <p:cNvPr id="5" name="Picture 4" descr="WhatsApp Image 2026-04-10 at 11.28.38 PM.jpeg">
            <a:extLst>
              <a:ext uri="{FF2B5EF4-FFF2-40B4-BE49-F238E27FC236}">
                <a16:creationId xmlns:a16="http://schemas.microsoft.com/office/drawing/2014/main" id="{E65C2BC0-D870-7219-1837-B589FC5338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1" r="7622"/>
          <a:stretch>
            <a:fillRect/>
          </a:stretch>
        </p:blipFill>
        <p:spPr>
          <a:xfrm>
            <a:off x="4338828" y="205740"/>
            <a:ext cx="3579876" cy="48486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5901" y="205740"/>
            <a:ext cx="133171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dirty="0"/>
              <a:t>Output Screen </a:t>
            </a:r>
            <a:r>
              <a:rPr lang="en-US" sz="1350" dirty="0"/>
              <a:t>5</a:t>
            </a:r>
            <a:endParaRPr sz="1350" dirty="0"/>
          </a:p>
        </p:txBody>
      </p:sp>
      <p:pic>
        <p:nvPicPr>
          <p:cNvPr id="4" name="Picture 3" descr="WhatsApp Image 2026-04-10 at 11.28.41 PM.jpeg"/>
          <p:cNvPicPr>
            <a:picLocks noChangeAspect="1"/>
          </p:cNvPicPr>
          <p:nvPr/>
        </p:nvPicPr>
        <p:blipFill>
          <a:blip r:embed="rId2"/>
          <a:srcRect l="31560" t="3750" r="32752" b="4424"/>
          <a:stretch>
            <a:fillRect/>
          </a:stretch>
        </p:blipFill>
        <p:spPr>
          <a:xfrm>
            <a:off x="2576323" y="587828"/>
            <a:ext cx="4137053" cy="41497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5901" y="205740"/>
            <a:ext cx="133171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dirty="0"/>
              <a:t>Output Screen </a:t>
            </a:r>
            <a:r>
              <a:rPr lang="en-US" sz="1350" dirty="0"/>
              <a:t>6</a:t>
            </a:r>
            <a:endParaRPr sz="1350" dirty="0"/>
          </a:p>
        </p:txBody>
      </p:sp>
      <p:pic>
        <p:nvPicPr>
          <p:cNvPr id="4" name="Picture 3" descr="WhatsApp Image 2026-04-10 at 11.28.42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782" y="877824"/>
            <a:ext cx="5815584" cy="33947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Box"/>
          <p:cNvSpPr txBox="1">
            <a:spLocks noGrp="1"/>
          </p:cNvSpPr>
          <p:nvPr/>
        </p:nvSpPr>
        <p:spPr>
          <a:xfrm>
            <a:off x="355200" y="55000"/>
            <a:ext cx="8433600" cy="5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0" rIns="91425" bIns="0" anchor="ctr" anchorCtr="0">
            <a:normAutofit fontScale="97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latin typeface="Times New Roman"/>
              </a:rPr>
              <a:t>SDG Mapping</a:t>
            </a:r>
          </a:p>
        </p:txBody>
      </p:sp>
      <p:sp>
        <p:nvSpPr>
          <p:cNvPr id="201" name="BodyBox"/>
          <p:cNvSpPr txBox="1">
            <a:spLocks noGrp="1"/>
          </p:cNvSpPr>
          <p:nvPr/>
        </p:nvSpPr>
        <p:spPr>
          <a:xfrm>
            <a:off x="316278" y="650000"/>
            <a:ext cx="8520600" cy="40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/>
          <a:p>
            <a:pPr lv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500" b="1" dirty="0">
              <a:solidFill>
                <a:schemeClr val="tx1"/>
              </a:solidFill>
              <a:latin typeface="Times New Roman"/>
            </a:endParaRPr>
          </a:p>
          <a:p>
            <a:pPr lv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/>
              </a:rPr>
              <a:t>SDG 2 — Zero Hunger: </a:t>
            </a:r>
            <a:r>
              <a:rPr lang="en-US" sz="1500" dirty="0">
                <a:solidFill>
                  <a:schemeClr val="tx1"/>
                </a:solidFill>
                <a:latin typeface="Times New Roman"/>
              </a:rPr>
              <a:t>Early disease detection and AI crop advisory reduce crop loss and promote sustainable farming, strengthening food security for millions of farmers.</a:t>
            </a:r>
          </a:p>
          <a:p>
            <a:pPr lv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/>
              </a:rPr>
              <a:t>SDG 9 — Industry, Innovation &amp; Infrastructure: </a:t>
            </a:r>
            <a:r>
              <a:rPr lang="en-US" sz="1500" dirty="0">
                <a:solidFill>
                  <a:schemeClr val="tx1"/>
                </a:solidFill>
                <a:latin typeface="Times New Roman"/>
              </a:rPr>
              <a:t>Integrates CNN, LLMs, and voice AI to build digital agricultural infrastructure in rural regions, driving innovation in precision farming.</a:t>
            </a:r>
          </a:p>
          <a:p>
            <a:pPr lv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/>
              </a:rPr>
              <a:t>SDG 12 — Responsible Consumption &amp; Production: </a:t>
            </a:r>
            <a:r>
              <a:rPr lang="en-US" sz="1500" dirty="0">
                <a:solidFill>
                  <a:schemeClr val="tx1"/>
                </a:solidFill>
                <a:latin typeface="Times New Roman"/>
              </a:rPr>
              <a:t>Data-driven crop recommendations optimize fertilizer, pesticide, and water use — reducing waste and enabling sustainable resource management.</a:t>
            </a:r>
          </a:p>
          <a:p>
            <a:pPr lv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/>
              </a:rPr>
              <a:t>SDG 13 — Climate Action: </a:t>
            </a:r>
            <a:r>
              <a:rPr lang="en-US" sz="1500" dirty="0">
                <a:solidFill>
                  <a:schemeClr val="tx1"/>
                </a:solidFill>
                <a:latin typeface="Times New Roman"/>
              </a:rPr>
              <a:t>Real-time weather integration enables climate-resilient farming decisions — adjusting planting, irrigation, and pesticide cycles based on forecasted conditions.</a:t>
            </a:r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FE137842-D257-B8C0-6C87-E64D7C733F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b="1"/>
              <a:t>20</a:t>
            </a:fld>
            <a:endParaRPr b="1"/>
          </a:p>
        </p:txBody>
      </p:sp>
      <p:pic>
        <p:nvPicPr>
          <p:cNvPr id="71" name="Google Shape;71;p14">
            <a:extLst>
              <a:ext uri="{FF2B5EF4-FFF2-40B4-BE49-F238E27FC236}">
                <a16:creationId xmlns:a16="http://schemas.microsoft.com/office/drawing/2014/main" id="{BA00DEB6-B346-64C2-80E0-D09BF429DF7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823" y="32735"/>
            <a:ext cx="548699" cy="568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>
            <a:extLst>
              <a:ext uri="{FF2B5EF4-FFF2-40B4-BE49-F238E27FC236}">
                <a16:creationId xmlns:a16="http://schemas.microsoft.com/office/drawing/2014/main" id="{AF2FF1AB-C2A2-BB8D-D916-7919B67742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456" y="43647"/>
            <a:ext cx="572721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804672"/>
            <a:ext cx="80467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"Kisan Sahayak successfully demonstrates how Deep Learning (CNN) and Large Language Models (Gemini/Ollama) can be combined into a practical, multilingual, full-stack agricultural SaaS platform that empowers Indian farmers with AI-driven disease diagnosis, crop planning, and advisory support."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1847088"/>
            <a:ext cx="8595360" cy="43891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1847088"/>
            <a:ext cx="73152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2336" y="1847088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CNN-based deep learning model accurately classifies 38 plant diseases from leaf images, enabling early intervention.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2368296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368296"/>
            <a:ext cx="73152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02336" y="2368296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Multilingual AI responses (12 languages) break language barriers for farmers across India.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74320" y="2889504"/>
            <a:ext cx="8595360" cy="43891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2889504"/>
            <a:ext cx="73152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2336" y="2889504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Gemini + Ollama dual-AI architecture ensures the platform remains functional even in low-connectivity rural environments.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74320" y="3410712"/>
            <a:ext cx="8595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74320" y="3410712"/>
            <a:ext cx="73152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2336" y="3410712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Full-stack SaaS design with user authentication, history dashboard, and persistent MongoDB records — production-grade platform.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74320" y="3931920"/>
            <a:ext cx="8595360" cy="43891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74320" y="3931920"/>
            <a:ext cx="73152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02336" y="3931920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Modular, extensible architecture supports future integration of IoT sensors, mobile apps, and government scheme advisories.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502920" cy="5212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91440"/>
            <a:ext cx="502920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731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Shape 1"/>
          <p:cNvSpPr/>
          <p:nvPr/>
        </p:nvSpPr>
        <p:spPr>
          <a:xfrm>
            <a:off x="109728" y="658368"/>
            <a:ext cx="892454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69680" y="4800600"/>
            <a:ext cx="274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804672"/>
            <a:ext cx="877824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6032" y="804672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Hughes, D. P., &amp; Salathé, M. (2015). An open access repository of images on plant health to enable the development of mobile disease diagnostics. arXiv:1511.08060. (PlantVillage Dataset)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82880" y="1197864"/>
            <a:ext cx="8778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" y="1197864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LeCun, Y., Bengio, Y., &amp; Hinton, G. (2015). Deep learning. Nature, 521(7553), 436–444. (CNN Foundations)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82880" y="1591056"/>
            <a:ext cx="877824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032" y="1591056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Chollet, F. et al. (2015). Keras: Deep Learning for humans. https://keras.io (TensorFlow/Keras Framework)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82880" y="1984248"/>
            <a:ext cx="8778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56032" y="1984248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Google DeepMind. (2024). Gemini: A Family of Highly Capable Multimodal Models. https://deepmind.google/technologies/gemini/ (Gemini API)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182880" y="2377440"/>
            <a:ext cx="877824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6032" y="2377440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Meta AI. (2024). LLaMA 3.2: Open Foundation and Fine-Tuned Chat Models. https://ai.meta.com/llama/ (LLaMA / Ollama backend)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182880" y="2770632"/>
            <a:ext cx="8778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6032" y="2770632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Vercel. (2024). Next.js 15 Documentation — App Router. https://nextjs.org/docs (Next.js Framework)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82880" y="3163824"/>
            <a:ext cx="877824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6032" y="3163824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MongoDB Inc. (2024). Mongoose ODM Documentation. https://mongoosejs.com/docs/ (Database Layer)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182880" y="3557016"/>
            <a:ext cx="8778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6032" y="3557016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Clerk Inc. (2024). Authentication and User Management. https://clerk.com/docs (Auth System)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182880" y="3950208"/>
            <a:ext cx="877824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56032" y="3950208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Kamilaris, A., &amp; Prenafeta-Boldú, F. X. (2018). Deep learning in agriculture: A survey. Computers and Electronics in Agriculture, 147, 70–90.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182880" y="4343400"/>
            <a:ext cx="8778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56032" y="4343400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Mohanty, S. P., Hughes, D. P., &amp; Salathé, M. (2016). Using deep learning for image-based plant disease detection. Frontiers in Plant Science, 7, 1419.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2420</Words>
  <Application>Microsoft Office PowerPoint</Application>
  <PresentationFormat>On-screen Show (16:9)</PresentationFormat>
  <Paragraphs>361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Home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Mohith M Y</cp:lastModifiedBy>
  <cp:revision>2</cp:revision>
  <dcterms:created xsi:type="dcterms:W3CDTF">2026-03-24T01:22:59Z</dcterms:created>
  <dcterms:modified xsi:type="dcterms:W3CDTF">2026-04-11T01:55:23Z</dcterms:modified>
</cp:coreProperties>
</file>